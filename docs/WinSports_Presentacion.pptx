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12119" y="0"/>
            <a:ext cx="4680000" cy="6858000"/>
          </a:xfrm>
          <a:prstGeom prst="rect">
            <a:avLst/>
          </a:prstGeom>
          <a:solidFill>
            <a:srgbClr val="11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84119" y="0"/>
            <a:ext cx="108000" cy="6858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900000"/>
            <a:ext cx="144000" cy="144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8640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A9EFF"/>
                </a:solidFill>
                <a:latin typeface="Calibri"/>
              </a:rPr>
              <a:t>INGENIERÍA DE DATOS  - 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620000"/>
            <a:ext cx="720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E8EDF5"/>
                </a:solidFill>
                <a:latin typeface="Calibri"/>
              </a:rPr>
              <a:t>WINSPORTS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060000"/>
            <a:ext cx="792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4A9EFF"/>
                </a:solidFill>
                <a:latin typeface="Calibri"/>
              </a:rPr>
              <a:t>Analítica de streaming deportivo en tiempo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708000"/>
            <a:ext cx="396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A0C0"/>
                </a:solidFill>
                <a:latin typeface="Calibri"/>
              </a:rPr>
              <a:t>De un CSV de eventos de reproducción a un dashboard de métricas sobre MongoDB Atlas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4680000"/>
            <a:ext cx="1296000" cy="342000"/>
          </a:xfrm>
          <a:prstGeom prst="roundRect">
            <a:avLst>
              <a:gd name="adj" fmla="val 50000"/>
            </a:avLst>
          </a:prstGeom>
          <a:solidFill>
            <a:srgbClr val="1B4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200" b="1">
                <a:solidFill>
                  <a:srgbClr val="E8EDF5"/>
                </a:solidFill>
                <a:latin typeface="Calibri"/>
              </a:rP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6000" y="4680000"/>
            <a:ext cx="1296000" cy="342000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200" b="1">
                <a:solidFill>
                  <a:srgbClr val="E8EDF5"/>
                </a:solidFill>
                <a:latin typeface="Calibri"/>
              </a:rPr>
              <a:t>MongoDB Atlas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2000" y="4680000"/>
            <a:ext cx="1296000" cy="342000"/>
          </a:xfrm>
          <a:prstGeom prst="roundRect">
            <a:avLst>
              <a:gd name="adj" fmla="val 50000"/>
            </a:avLst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200" b="1">
                <a:solidFill>
                  <a:srgbClr val="E8EDF5"/>
                </a:solidFill>
                <a:latin typeface="Calibri"/>
              </a:rPr>
              <a:t>Motor async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8000" y="4680000"/>
            <a:ext cx="1296000" cy="342000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200" b="1">
                <a:solidFill>
                  <a:srgbClr val="E8EDF5"/>
                </a:solidFill>
                <a:latin typeface="Calibri"/>
              </a:rPr>
              <a:t>React + 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4000" y="4680000"/>
            <a:ext cx="1296000" cy="3420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200" b="1">
                <a:solidFill>
                  <a:srgbClr val="E8EDF5"/>
                </a:solidFill>
                <a:latin typeface="Calibri"/>
              </a:rPr>
              <a:t>Recharts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000" y="4680000"/>
            <a:ext cx="1296000" cy="342000"/>
          </a:xfrm>
          <a:prstGeom prst="roundRect">
            <a:avLst>
              <a:gd name="adj" fmla="val 50000"/>
            </a:avLst>
          </a:prstGeom>
          <a:solidFill>
            <a:srgbClr val="E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200" b="1">
                <a:solidFill>
                  <a:srgbClr val="E8EDF5"/>
                </a:solidFill>
                <a:latin typeface="Calibri"/>
              </a:rPr>
              <a:t>Leaflet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119" y="1620000"/>
            <a:ext cx="39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4A9EFF"/>
                </a:solidFill>
                <a:latin typeface="Calibri"/>
              </a:rPr>
              <a:t>Lo que verás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119" y="2160000"/>
            <a:ext cx="39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-  Modelo de datos NoSQL y validadores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2119" y="2466000"/>
            <a:ext cx="39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-  Reconstrucción de sesiones desde eventos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119" y="2772000"/>
            <a:ext cx="39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-  Pipelines de agregación para las métricas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2119" y="3078000"/>
            <a:ext cx="39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-  Change Streams que sincronizan las derivadas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2119" y="3384000"/>
            <a:ext cx="39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-  Dashboard React: Overview, QoE, Usuarios,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6138000"/>
            <a:ext cx="72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AA0C0"/>
                </a:solidFill>
                <a:latin typeface="Calibri"/>
              </a:rPr>
              <a:t>16 diapositivas  -  WinSports v0.1.0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4A9EFF"/>
                </a:solidFill>
                <a:latin typeface="Calibri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A0C0"/>
                </a:solidFill>
                <a:latin typeface="Calibri"/>
              </a:rPr>
              <a:t>Recorrido guiado por el 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548000"/>
            <a:ext cx="5400000" cy="43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548000"/>
            <a:ext cx="54000" cy="432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272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1634400"/>
            <a:ext cx="45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  <a:latin typeface="Calibri"/>
              </a:rPr>
              <a:t>El problema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548000"/>
            <a:ext cx="5400000" cy="43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548000"/>
            <a:ext cx="54000" cy="432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0" y="16272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CAF82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0000" y="1634400"/>
            <a:ext cx="45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  <a:latin typeface="Calibri"/>
              </a:rPr>
              <a:t>Stack y librerías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2106000"/>
            <a:ext cx="5400000" cy="43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2106000"/>
            <a:ext cx="54000" cy="432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21852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0000" y="2192400"/>
            <a:ext cx="45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  <a:latin typeface="Calibri"/>
              </a:rPr>
              <a:t>Arquitectura de datos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000" y="2106000"/>
            <a:ext cx="5400000" cy="43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0000" y="2106000"/>
            <a:ext cx="54000" cy="4320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0000" y="21852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0000" y="2192400"/>
            <a:ext cx="45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  <a:latin typeface="Calibri"/>
              </a:rPr>
              <a:t>Modelo NoSQL (3 colecciones)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2664000"/>
            <a:ext cx="5400000" cy="43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0000" y="2664000"/>
            <a:ext cx="54000" cy="432000"/>
          </a:xfrm>
          <a:prstGeom prst="rect">
            <a:avLst/>
          </a:prstGeom>
          <a:solidFill>
            <a:srgbClr val="E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" y="27432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5050"/>
                </a:solidFill>
                <a:latin typeface="Consola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000" y="2750400"/>
            <a:ext cx="45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  <a:latin typeface="Calibri"/>
              </a:rPr>
              <a:t>Validadores $jsonSchema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0000" y="2664000"/>
            <a:ext cx="5400000" cy="43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0000" y="2664000"/>
            <a:ext cx="54000" cy="432000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0000" y="27432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4AC0D"/>
                </a:solidFill>
                <a:latin typeface="Consola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0000" y="2750400"/>
            <a:ext cx="45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  <a:latin typeface="Calibri"/>
              </a:rPr>
              <a:t>Índices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3222000"/>
            <a:ext cx="5400000" cy="43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0000" y="3222000"/>
            <a:ext cx="54000" cy="432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000" y="33012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  <a:latin typeface="Consola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0000" y="3308400"/>
            <a:ext cx="45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  <a:latin typeface="Calibri"/>
              </a:rPr>
              <a:t>Pipeline: sesiones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0000" y="3222000"/>
            <a:ext cx="5400000" cy="43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0000" y="3222000"/>
            <a:ext cx="54000" cy="43200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0000" y="33012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  <a:latin typeface="Consolas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0000" y="3308400"/>
            <a:ext cx="45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  <a:latin typeface="Calibri"/>
              </a:rPr>
              <a:t>Pipeline: content_stats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000" y="3780000"/>
            <a:ext cx="5400000" cy="43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0000" y="3780000"/>
            <a:ext cx="54000" cy="432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0000" y="38592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onsolas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60000" y="3866400"/>
            <a:ext cx="45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  <a:latin typeface="Calibri"/>
              </a:rPr>
              <a:t>Operadores de agregación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0000" y="3780000"/>
            <a:ext cx="5400000" cy="43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0000" y="3780000"/>
            <a:ext cx="54000" cy="432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0000" y="38592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CAF82"/>
                </a:solidFill>
                <a:latin typeface="Consolas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0000" y="3866400"/>
            <a:ext cx="45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  <a:latin typeface="Calibri"/>
              </a:rPr>
              <a:t>Change Streams (triggers)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0000" y="4338000"/>
            <a:ext cx="5400000" cy="43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0000" y="4338000"/>
            <a:ext cx="54000" cy="4320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0000" y="44172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  <a:latin typeface="Consolas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60000" y="4424400"/>
            <a:ext cx="45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  <a:latin typeface="Calibri"/>
              </a:rPr>
              <a:t>Dashboard React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0000" y="4338000"/>
            <a:ext cx="5400000" cy="43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0000" y="4338000"/>
            <a:ext cx="54000" cy="432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0000" y="44172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  <a:latin typeface="Consolas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0000" y="4424400"/>
            <a:ext cx="45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  <a:latin typeface="Calibri"/>
              </a:rPr>
              <a:t>Números del proyecto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0000" y="4896000"/>
            <a:ext cx="5400000" cy="43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0000" y="4896000"/>
            <a:ext cx="54000" cy="432000"/>
          </a:xfrm>
          <a:prstGeom prst="rect">
            <a:avLst/>
          </a:prstGeom>
          <a:solidFill>
            <a:srgbClr val="E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0000" y="49752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5050"/>
                </a:solidFill>
                <a:latin typeface="Consolas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60000" y="4982400"/>
            <a:ext cx="45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  <a:latin typeface="Calibri"/>
              </a:rPr>
              <a:t>Legal disclaimer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0000" y="4896000"/>
            <a:ext cx="5400000" cy="43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00000" y="4896000"/>
            <a:ext cx="54000" cy="432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80000" y="4975200"/>
            <a:ext cx="46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  <a:latin typeface="Consolas"/>
              </a:rP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20000" y="4982400"/>
            <a:ext cx="45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  <a:latin typeface="Calibri"/>
              </a:rPr>
              <a:t>Cierre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4A9E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  <a:latin typeface="Calibri"/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A0C0"/>
                </a:solidFill>
                <a:latin typeface="Calibri"/>
              </a:rPr>
              <a:t>Entender cómo se consume el streaming deportivo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3600000" cy="252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54000" cy="2520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728000"/>
            <a:ext cx="33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  <a:latin typeface="Calibri"/>
              </a:rPr>
              <a:t>Volumen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123999"/>
            <a:ext cx="3348001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  -  ~300.000 eventos de reproducción en el CSV
  -  Cada usuario genera START, PAUSE, BUFFERING, COMPLETE…
  -  El log crudo no responde preguntas de negocio por sí solo
  -  Hay que agregarlo del lado del servidor, no en memoria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0" y="1620000"/>
            <a:ext cx="3600000" cy="252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0000" y="1620000"/>
            <a:ext cx="54000" cy="25200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0000" y="1728000"/>
            <a:ext cx="33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  <a:latin typeface="Calibri"/>
              </a:rPr>
              <a:t>Preguntas de negocio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0" y="2123999"/>
            <a:ext cx="3348001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  -  ¿Qué contenido se ve más y se termina más?
  -  ¿Cómo es la calidad de experiencia (buffer, rebuffering)?
  -  ¿Quiénes son los usuarios Heavy / Mid / Vague?
  -  ¿Dónde y a qué horas se concentra la actividad?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0000" y="1620000"/>
            <a:ext cx="3600000" cy="252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0000" y="1620000"/>
            <a:ext cx="54000" cy="2520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0000" y="1728000"/>
            <a:ext cx="33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AF82"/>
                </a:solidFill>
                <a:latin typeface="Calibri"/>
              </a:rPr>
              <a:t>Reto técnico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000" y="2123999"/>
            <a:ext cx="3348001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  -  Convertir un log plano en sesiones de reproducción
  -  Derivar métricas por contenido sin duplicar datos
  -  Mantener todo sincronizado al ingerir nuevos CSVs
  -  Exponerlo en una API limpia para el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4680000"/>
            <a:ext cx="11112119" cy="720000"/>
          </a:xfrm>
          <a:prstGeom prst="rect">
            <a:avLst/>
          </a:prstGeom>
          <a:solidFill>
            <a:srgbClr val="111E33"/>
          </a:solidFill>
          <a:ln w="9525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0" y="4752000"/>
            <a:ext cx="11112119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1">
                <a:solidFill>
                  <a:srgbClr val="4A9EFF"/>
                </a:solidFill>
                <a:latin typeface="Calibri"/>
              </a:rPr>
              <a:t>"Que MongoDB haga el trabajo pesado: agregar dentro de la base, no fuera."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4A9E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  <a:latin typeface="Calibri"/>
              </a:rPr>
              <a:t>Stack técnico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A0C0"/>
                </a:solidFill>
                <a:latin typeface="Calibri"/>
              </a:rPr>
              <a:t>Tres capas modulares: la API nunca toca Mongo directo, el front solo consume 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3600000" cy="46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3600000" cy="360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674000"/>
            <a:ext cx="36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A1628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160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FastAPI + Uvicorn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376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API REST async + OpenAPI/Swagger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2826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Motor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042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Driver async de 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492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Pydantic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708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Schemas tipados de request/response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158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pydantic-settings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4374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Config desde .env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4824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PyMongo (bulk_write)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5040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Upserts idempotentes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5490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Python 3.14 + uv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5706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Entorno y gestión de paquetes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56000" y="1620000"/>
            <a:ext cx="3600000" cy="46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56000" y="1620000"/>
            <a:ext cx="3600000" cy="360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6000" y="1674000"/>
            <a:ext cx="36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A1628"/>
                </a:solidFill>
                <a:latin typeface="Calibri"/>
              </a:rPr>
              <a:t>BASE DE DATOS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6000" y="2160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MongoDB Atlas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6000" y="2376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Replica set: habilita Change Streams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6000" y="2826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$jsonSchema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6000" y="3042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Validación nivel "moderate" (warn)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6000" y="3492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Aggregation Framework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6000" y="3708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$group, $switch, $hour, $dayOfWeek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6000" y="4158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Change Streams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6000" y="4374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Sincroniza derivadas en tiempo real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6000" y="4824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Índices compuestos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6000" y="5040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Reconstrucción y rankings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6000" y="5490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Índice único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6000" y="5706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Clave de sesión anti-duplicados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72000" y="1620000"/>
            <a:ext cx="3600000" cy="46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72000" y="1620000"/>
            <a:ext cx="3600000" cy="3600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2000" y="1674000"/>
            <a:ext cx="36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A1628"/>
                </a:solidFill>
                <a:latin typeface="Calibri"/>
              </a:rPr>
              <a:t>FRONTEND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2000" y="2160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React 19 + Vite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2000" y="2376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SPA con proxy /api → :8000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2000" y="2826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Recharts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2000" y="3042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Gráficas de barras, líneas, funnel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2000" y="3492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Leaflet + react-leaflet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52000" y="3708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Mapa de burbujas de usuarios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2000" y="4158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Vitest + Testing Library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2000" y="4374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Tests de componentes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2000" y="4824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CSS theme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52000" y="5040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Tema oscuro unificado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52000" y="5490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EDF5"/>
                </a:solidFill>
                <a:latin typeface="Calibri"/>
              </a:rPr>
              <a:t>Fetch API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52000" y="5706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A0C0"/>
                </a:solidFill>
                <a:latin typeface="Calibri"/>
              </a:rPr>
              <a:t>Consumo de la REST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4A9E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  <a:latin typeface="Calibri"/>
              </a:rPr>
              <a:t>Arquitectura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A0C0"/>
                </a:solidFill>
                <a:latin typeface="Calibri"/>
              </a:rPr>
              <a:t>Un flujo unidireccional: el CSV es la fuente, todo lo demás se deriva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980000"/>
            <a:ext cx="2520000" cy="1296000"/>
          </a:xfrm>
          <a:prstGeom prst="rect">
            <a:avLst/>
          </a:prstGeom>
          <a:solidFill>
            <a:srgbClr val="111E33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2105999"/>
            <a:ext cx="252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E67E22"/>
                </a:solidFill>
                <a:latin typeface="Consolas"/>
              </a:rPr>
              <a:t>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483999"/>
            <a:ext cx="2304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DF5"/>
                </a:solidFill>
                <a:latin typeface="Calibri"/>
              </a:rPr>
              <a:t>data/*.csv
Eventos crudos
de reproducción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0" y="1980000"/>
            <a:ext cx="2520000" cy="1296000"/>
          </a:xfrm>
          <a:prstGeom prst="rect">
            <a:avLst/>
          </a:prstGeom>
          <a:solidFill>
            <a:srgbClr val="111E33"/>
          </a:solidFill>
          <a:ln w="9525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0" y="2105999"/>
            <a:ext cx="252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4A9EFF"/>
                </a:solidFill>
                <a:latin typeface="Consolas"/>
              </a:rPr>
              <a:t>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8000" y="2483999"/>
            <a:ext cx="2304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DF5"/>
                </a:solidFill>
                <a:latin typeface="Calibri"/>
              </a:rPr>
              <a:t>Fuente de verdad
1 doc por evento
~300k 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0000" y="1980000"/>
            <a:ext cx="2520000" cy="1296000"/>
          </a:xfrm>
          <a:prstGeom prst="rect">
            <a:avLst/>
          </a:prstGeom>
          <a:solidFill>
            <a:srgbClr val="111E33"/>
          </a:solidFill>
          <a:ln w="9525">
            <a:solidFill>
              <a:srgbClr val="4CA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0000" y="2105999"/>
            <a:ext cx="252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4CAF82"/>
                </a:solidFill>
                <a:latin typeface="Consolas"/>
              </a:rPr>
              <a:t>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8000" y="2483999"/>
            <a:ext cx="2304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DF5"/>
                </a:solidFill>
                <a:latin typeface="Calibri"/>
              </a:rPr>
              <a:t>Derivada
Agrupa por usuario,
parte por START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0000" y="1980000"/>
            <a:ext cx="2520000" cy="1296000"/>
          </a:xfrm>
          <a:prstGeom prst="rect">
            <a:avLst/>
          </a:prstGeom>
          <a:solidFill>
            <a:srgbClr val="111E33"/>
          </a:solidFill>
          <a:ln w="9525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0000" y="2105999"/>
            <a:ext cx="252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9B59B6"/>
                </a:solidFill>
                <a:latin typeface="Consolas"/>
              </a:rPr>
              <a:t>content_stats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8000" y="2483999"/>
            <a:ext cx="2304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8EDF5"/>
                </a:solidFill>
                <a:latin typeface="Calibri"/>
              </a:rPr>
              <a:t>Derivada
Métricas agregadas
por contenido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60000" y="2628000"/>
            <a:ext cx="540000" cy="0"/>
          </a:xfrm>
          <a:prstGeom prst="line">
            <a:avLst/>
          </a:prstGeom>
          <a:ln w="19050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60000" y="19080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AA0C0"/>
                </a:solidFill>
                <a:latin typeface="Calibri"/>
              </a:rPr>
              <a:t>load_csv.py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0000" y="2628000"/>
            <a:ext cx="540000" cy="0"/>
          </a:xfrm>
          <a:prstGeom prst="line">
            <a:avLst/>
          </a:prstGeom>
          <a:ln w="19050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0000" y="19080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AA0C0"/>
                </a:solidFill>
                <a:latin typeface="Calibri"/>
              </a:rPr>
              <a:t>change stream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80000" y="2628000"/>
            <a:ext cx="180000" cy="0"/>
          </a:xfrm>
          <a:prstGeom prst="line">
            <a:avLst/>
          </a:prstGeom>
          <a:ln w="19050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80000" y="1908000"/>
            <a:ext cx="1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AA0C0"/>
                </a:solidFill>
                <a:latin typeface="Calibri"/>
              </a:rPr>
              <a:t>change stream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3960000"/>
            <a:ext cx="11112119" cy="864000"/>
          </a:xfrm>
          <a:prstGeom prst="rect">
            <a:avLst/>
          </a:prstGeom>
          <a:solidFill>
            <a:srgbClr val="111E33"/>
          </a:solidFill>
          <a:ln w="9525">
            <a:solidFill>
              <a:srgbClr val="2A4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000" y="4031999"/>
            <a:ext cx="432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  <a:latin typeface="Calibri"/>
              </a:rPr>
              <a:t>Núcleo orientado a eventos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4284000"/>
            <a:ext cx="107521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En producción, los Change Streams de MongoDB reaccionan a cada insert en 'events' y reconstruyen 'sessions' y 'content_stats' sin polling.
En desarrollo, las derivadas se construyen a demanda con scripts/test_pipeline.py o desde la pestaña Admin del dashboard.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4968000"/>
            <a:ext cx="11112119" cy="1188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000" y="4968000"/>
            <a:ext cx="54000" cy="1188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000" y="5076000"/>
            <a:ext cx="1086012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AF82"/>
                </a:solidFill>
                <a:latin typeface="Calibri"/>
              </a:rPr>
              <a:t>Por qué derivar y no recalcular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" y="5471999"/>
            <a:ext cx="1086012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  -  El log crudo no se modifica nunca (auditable)
  -  Las métricas viven pre-agregadas → el dashboard responde rápido
  -  Re-ingerir un CSV actualiza la sesión vía upsert, no la duplica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4A9E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  <a:latin typeface="Calibri"/>
              </a:rPr>
              <a:t>Modelo NoSQL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A0C0"/>
                </a:solidFill>
                <a:latin typeface="Calibri"/>
              </a:rPr>
              <a:t>Tres colecciones con responsabilidades separadas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5400000" cy="19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54000" cy="1980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728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  <a:latin typeface="Calibri"/>
              </a:rPr>
              <a:t>events  (fuente de verdad)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123999"/>
            <a:ext cx="51480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  -  1 documento por evento del CSV — log inmutable
  -  date, subscriber_id, customer_id, type_event, device_type
  -  Reproducción: position, buffer_time, bitrate, duration
  -  Contenido: title, series_title, content_type, genres
  -  ~300.000 documentos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620000"/>
            <a:ext cx="5400000" cy="19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" cy="1980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0" y="1728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AF82"/>
                </a:solidFill>
                <a:latin typeface="Calibri"/>
              </a:rPr>
              <a:t>sessions  (derivada de events)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2123999"/>
            <a:ext cx="51480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  -  Agrupa eventos por subscriber + customer, parte en cada START
  -  Métricas: total_buffer_time, rebuffer_count, completion_pct
  -  Funnel: reached_firstquartile / midpoint / thirdquartile / complete
  -  Clave única: (subscriber_id, customer_id, start_time)
  -  ~28.500 documentos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3780000"/>
            <a:ext cx="5400000" cy="19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3780000"/>
            <a:ext cx="54000" cy="19800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3888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  <a:latin typeface="Calibri"/>
              </a:rPr>
              <a:t>content_stats  (derivada de sessions)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4283999"/>
            <a:ext cx="51480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  -  1 documento por contenido (customer_id)
  -  total_plays, unique_viewers, completion_rate, avg_buffer_time
  -  Tasas del funnel y breakdown por dispositivo (plays_by_device)
  -  last_updated con timestamp del servidor
  -  ~10.800 documentos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000" y="3780000"/>
            <a:ext cx="5400000" cy="19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0000" y="3780000"/>
            <a:ext cx="54000" cy="1980000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0000" y="3888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4AC0D"/>
                </a:solidFill>
                <a:latin typeface="Calibri"/>
              </a:rPr>
              <a:t>Decisiones de diseño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0" y="4283999"/>
            <a:ext cx="51480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  -  Sin additionalProperties:False en events (esquema flexible)
  -  Enteros aceptan int y long (bitrate/position grandes)
  -  completion_pct se capa a 100% (unidades mixtas en el dataset)
  -  El país solo viene como CountryCode → centroide + jitter en el mapa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4A9E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  <a:latin typeface="Calibri"/>
              </a:rPr>
              <a:t>Validadores $jsonSchema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A0C0"/>
                </a:solidFill>
                <a:latin typeface="Calibri"/>
              </a:rPr>
              <a:t>Nivel "moderate", acción "warn": valida sin frenar la carga masiva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7200000" cy="4680000"/>
          </a:xfrm>
          <a:prstGeom prst="rect">
            <a:avLst/>
          </a:prstGeom>
          <a:solidFill>
            <a:srgbClr val="050C1A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7200000" cy="251999"/>
          </a:xfrm>
          <a:prstGeom prst="rect">
            <a:avLst/>
          </a:prstGeom>
          <a:solidFill>
            <a:srgbClr val="0D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1663200"/>
            <a:ext cx="691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A9EFF"/>
                </a:solidFill>
                <a:latin typeface="Consolas"/>
              </a:rPr>
              <a:t>db/collections/events.py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943999"/>
            <a:ext cx="6984000" cy="4284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EVENTS_VALIDATOR = {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"$jsonSchema": {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"bsonType": "object",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"required": ["date", "subscriber_id",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         "customer_id", "type_event",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         "device_type"],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"properties": {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"date":          {"bsonType": "date"},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"subscriber_id": {"bsonType": "string"},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"customer_id":   {"bsonType": "string"},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"type_event":    {"bsonType": "string"},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"device_type":   {"bsonType": "string",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                  "enum": ["ANDR", "IOS", "WEB"]},</a:t>
            </a:r>
          </a:p>
          <a:p>
            <a:pPr algn="l"/>
            <a:r>
              <a:rPr sz="1100" i="1">
                <a:solidFill>
                  <a:srgbClr val="8AA0C0"/>
                </a:solidFill>
                <a:latin typeface="Consolas"/>
              </a:rPr>
              <a:t>            # bitrate/position superan int32 -&gt; int + long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"bitrate":     {"bsonType": ["int","long","null"]},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"position":    {"bsonType": ["int","long","null"]},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"buffer_time": {"bsonType": ["double","int","null"]},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},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await db.create_collection(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"events", validator=EVENTS_VALIDATOR,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validationLevel="moderate",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validationAction="warn",   # loguea, no rechaza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0000" y="1620000"/>
            <a:ext cx="3600000" cy="46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0000" y="1620000"/>
            <a:ext cx="54000" cy="4680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000" y="1728000"/>
            <a:ext cx="33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  <a:latin typeface="Calibri"/>
              </a:rPr>
              <a:t>Por qué importa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000" y="2123999"/>
            <a:ext cx="3348001" cy="41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  -  La validación vive junto a los datos, no solo en Python
  -  action="warn": un doc raro no detiene un batch de millones
  -  Pydantic refleja la misma forma en la capa API
  -  Los enum frenan device_type inválidos en escritura
  -  Tipos null explícitos toleran campos opcionales del log
  -  collMod re-aplica el validator de forma idempotente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4A9EF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  <a:latin typeface="Calibri"/>
              </a:rPr>
              <a:t>Índices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A0C0"/>
                </a:solidFill>
                <a:latin typeface="Calibri"/>
              </a:rPr>
              <a:t>Compuestos para reconstrucción y rankings; único para blindar la sesión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7200000" cy="4680000"/>
          </a:xfrm>
          <a:prstGeom prst="rect">
            <a:avLst/>
          </a:prstGeom>
          <a:solidFill>
            <a:srgbClr val="050C1A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7200000" cy="251999"/>
          </a:xfrm>
          <a:prstGeom prst="rect">
            <a:avLst/>
          </a:prstGeom>
          <a:solidFill>
            <a:srgbClr val="0D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1663200"/>
            <a:ext cx="691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A9EFF"/>
                </a:solidFill>
                <a:latin typeface="Consolas"/>
              </a:rPr>
              <a:t>db/indexes/events.py · db/indexes/sessions.py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943999"/>
            <a:ext cx="6984000" cy="4284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i="1">
                <a:solidFill>
                  <a:srgbClr val="8AA0C0"/>
                </a:solidFill>
                <a:latin typeface="Consolas"/>
              </a:rPr>
              <a:t># events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IndexModel([("subscriber_id", ASCENDING),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 ("customer_id", ASCENDING),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 ("date", ASCENDING)],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name="idx_events_session_rebuild")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IndexModel([("date", DESCENDING)], name="idx_events_date")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IndexModel([("type_event", ASCENDING),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 ("date", DESCENDING)],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name="idx_events_type_date")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/>
            </a:r>
          </a:p>
          <a:p>
            <a:pPr algn="l"/>
            <a:r>
              <a:rPr sz="1000" i="1">
                <a:solidFill>
                  <a:srgbClr val="8AA0C0"/>
                </a:solidFill>
                <a:latin typeface="Consolas"/>
              </a:rPr>
              <a:t># sessions  -  clave de negocio, anti-duplicados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IndexModel([("subscriber_id", ASCENDING),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 ("customer_id", ASCENDING),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 ("start_time", ASCENDING)],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name="idx_sessions_unique_key",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unique=True)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IndexModel([("start_time", DESCENDING),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 ("total_buffer_time", DESCENDING)],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name="idx_sessions_time_buffer")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0000" y="1692000"/>
            <a:ext cx="3600000" cy="79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0000" y="1692000"/>
            <a:ext cx="54000" cy="792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3999" y="1782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  <a:latin typeface="Calibri"/>
              </a:rPr>
              <a:t>Reconstrucción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3999" y="2052000"/>
            <a:ext cx="32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(subscriber, customer, date) trae los eventos en orden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0000" y="2592000"/>
            <a:ext cx="3600000" cy="79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0000" y="2592000"/>
            <a:ext cx="54000" cy="792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3999" y="2682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  <a:latin typeface="Calibri"/>
              </a:rPr>
              <a:t>Único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3999" y="2952000"/>
            <a:ext cx="32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(subscriber, customer, start_time) → upsert sin duplicar sesiones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0000" y="3492000"/>
            <a:ext cx="3600000" cy="79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0000" y="3492000"/>
            <a:ext cx="54000" cy="792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3999" y="3582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  <a:latin typeface="Calibri"/>
              </a:rPr>
              <a:t>Temporal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999" y="3852000"/>
            <a:ext cx="32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(start_time, buffer) alimenta las alertas recientes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0000" y="4392000"/>
            <a:ext cx="3600000" cy="79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0000" y="4392000"/>
            <a:ext cx="54000" cy="792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999" y="4482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  <a:latin typeface="Calibri"/>
              </a:rPr>
              <a:t>QoE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999" y="4752000"/>
            <a:ext cx="32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(type_event, date) filtra buffering / rebuffering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0000" y="5292000"/>
            <a:ext cx="3600000" cy="792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00000" y="5292000"/>
            <a:ext cx="54000" cy="792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3999" y="5382000"/>
            <a:ext cx="324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9EFF"/>
                </a:solidFill>
                <a:latin typeface="Calibri"/>
              </a:rPr>
              <a:t>Rankings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999" y="5652000"/>
            <a:ext cx="32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  <a:latin typeface="Calibri"/>
              </a:rPr>
              <a:t>device_type y customer_id para los breakdowns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4A9E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  <a:latin typeface="Calibri"/>
              </a:rPr>
              <a:t>Pipeline: reconstrucción de sesiones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A0C0"/>
                </a:solidFill>
                <a:latin typeface="Calibri"/>
              </a:rPr>
              <a:t>De un log plano de eventos a sesiones de reproducción con métricas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4680000" cy="234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54000" cy="2340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728000"/>
            <a:ext cx="44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  <a:latin typeface="Calibri"/>
              </a:rPr>
              <a:t>Cómo funciona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123999"/>
            <a:ext cx="4428001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  -  Agrupa eventos por (subscriber_id, customer_id)
  -  Ordena cada grupo por fecha
  -  Abre una sesión nueva en cada evento START
  -  Por sesión: buffer total, rebuffers, pausas, completion
  -  Marca los hitos del funnel (FIRSTQUARTILE … COMPLETE)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140000"/>
            <a:ext cx="4680000" cy="19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" y="4140000"/>
            <a:ext cx="54000" cy="1980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4248000"/>
            <a:ext cx="44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AF82"/>
                </a:solidFill>
                <a:latin typeface="Calibri"/>
              </a:rPr>
              <a:t>Escritura idempotente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643999"/>
            <a:ext cx="44280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  -  bulk_write con UpdateOne(..., upsert=True)
  -  Clave: (subscriber_id, customer_id, start_time)
  -  Re-procesar un CSV actualiza, no duplica
  -  El índice único respalda la garantía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0" y="1620000"/>
            <a:ext cx="5760000" cy="4500000"/>
          </a:xfrm>
          <a:prstGeom prst="rect">
            <a:avLst/>
          </a:prstGeom>
          <a:solidFill>
            <a:srgbClr val="050C1A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000" y="1620000"/>
            <a:ext cx="5760000" cy="251999"/>
          </a:xfrm>
          <a:prstGeom prst="rect">
            <a:avLst/>
          </a:prstGeom>
          <a:solidFill>
            <a:srgbClr val="0D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4000" y="1663200"/>
            <a:ext cx="54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A9EFF"/>
                </a:solidFill>
                <a:latin typeface="Consolas"/>
              </a:rPr>
              <a:t>db/pipelines/sessions.py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8000" y="1943999"/>
            <a:ext cx="5544000" cy="4104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i="1">
                <a:solidFill>
                  <a:srgbClr val="8AA0C0"/>
                </a:solidFill>
                <a:latin typeface="Consolas"/>
              </a:rPr>
              <a:t># parte el historial del usuario en sesiones por cada START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for ev in evs: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if ev["type_event"] == "START" and current: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sub_sessions.append(current)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current = []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current.append(ev)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/>
            </a:r>
          </a:p>
          <a:p>
            <a:pPr algn="l"/>
            <a:r>
              <a:rPr sz="1000" i="1">
                <a:solidFill>
                  <a:srgbClr val="8AA0C0"/>
                </a:solidFill>
                <a:latin typeface="Consolas"/>
              </a:rPr>
              <a:t># métricas por sesión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total_buffer  = sum(e['buffer_time'] for e in sub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         if e.get('buffer_time') is not None)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rebuffer_count = sum(1 for e in sub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          if e['type_event'] == 'RE-BUFFERING')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completion_pct = round(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min(max_position / duration * 100, 100.0), 2)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/>
            </a:r>
          </a:p>
          <a:p>
            <a:pPr algn="l"/>
            <a:r>
              <a:rPr sz="1000" i="1">
                <a:solidFill>
                  <a:srgbClr val="8AA0C0"/>
                </a:solidFill>
                <a:latin typeface="Consolas"/>
              </a:rPr>
              <a:t># upsert idempotente por la clave de negocio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UpdateOne(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{"subscriber_id": s["subscriber_id"],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"customer_id":   s["customer_id"],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"start_time":    s["start_time"]},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{"$set": s}, upsert=True,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4A9EFF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  <a:latin typeface="Calibri"/>
              </a:rPr>
              <a:t>Pipeline: content_stats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A0C0"/>
                </a:solidFill>
                <a:latin typeface="Calibri"/>
              </a:rPr>
              <a:t>De sesiones a métricas agregadas por contenido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4680000" cy="234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54000" cy="23400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728000"/>
            <a:ext cx="44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  <a:latin typeface="Calibri"/>
              </a:rPr>
              <a:t>Qué calcula por contenido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123999"/>
            <a:ext cx="4428001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  -  total_plays y unique_viewers
  -  completion_rate y tasas del funnel (rate por hito)
  -  avg_buffer_time y rebuffer_rate (QoE)
  -  avg_completion_pct (progreso promedio)
  -  plays_by_device (breakdown por plataforma)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140000"/>
            <a:ext cx="4680000" cy="19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" y="4140000"/>
            <a:ext cx="54000" cy="1980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4248000"/>
            <a:ext cx="44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AF82"/>
                </a:solidFill>
                <a:latin typeface="Calibri"/>
              </a:rPr>
              <a:t>Por qué pre-agregar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643999"/>
            <a:ext cx="4428001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  -  El dashboard consulta métricas listas, no recalcula
  -  Una pieza puntual = un customer_id; el título agrupa el show
  -  upsert por customer_id mantiene el doc actualizado
  -  Se reconstruye al ingerir nuevos CSVs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0" y="1620000"/>
            <a:ext cx="5760000" cy="4500000"/>
          </a:xfrm>
          <a:prstGeom prst="rect">
            <a:avLst/>
          </a:prstGeom>
          <a:solidFill>
            <a:srgbClr val="050C1A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000" y="1620000"/>
            <a:ext cx="5760000" cy="251999"/>
          </a:xfrm>
          <a:prstGeom prst="rect">
            <a:avLst/>
          </a:prstGeom>
          <a:solidFill>
            <a:srgbClr val="0D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4000" y="1663200"/>
            <a:ext cx="547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A9EFF"/>
                </a:solidFill>
                <a:latin typeface="Consolas"/>
              </a:rPr>
              <a:t>db/pipelines/content_stats.py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8000" y="1943999"/>
            <a:ext cx="5544000" cy="4104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for customer_id, sess_list in groups.items():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n = len(sess_list)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unique_viewers = len(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{s['subscriber_id'] for s in sess_list})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def rate(field):   # % de sesiones que alcanzan un hito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return round(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 sum(1 for s in sess_list if s.get(field))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    / n * 100, 2)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docs.append({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"customer_id":      customer_id,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"total_plays":      n,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"unique_viewers":   unique_viewers,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"completion_rate":  rate("reached_complete"),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"avg_buffer_time":  avg_buffer,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"rebuffer_rate":    rebuffer_rate,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"plays_by_device":  device_counts,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    "last_updated":     datetime.now(timezone.utc),</a:t>
            </a:r>
          </a:p>
          <a:p>
            <a:pPr algn="l"/>
            <a:r>
              <a:rPr sz="1000">
                <a:solidFill>
                  <a:srgbClr val="CFE3FF"/>
                </a:solidFill>
                <a:latin typeface="Consolas"/>
              </a:rPr>
              <a:t>    })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4A9EFF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  <a:latin typeface="Calibri"/>
              </a:rPr>
              <a:t>Operadores de agregación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A0C0"/>
                </a:solidFill>
                <a:latin typeface="Calibri"/>
              </a:rPr>
              <a:t>El cálculo de las métricas vive dentro de MongoDB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10980000" cy="72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72000" cy="720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728000"/>
            <a:ext cx="306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4A9EFF"/>
                </a:solidFill>
                <a:latin typeface="Consolas"/>
              </a:rPr>
              <a:t>$group + $sum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0" y="1692000"/>
            <a:ext cx="45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Agrega del lado del servidor: usuarios únicos, plays, rankings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0" y="1980000"/>
            <a:ext cx="45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A0C0"/>
                </a:solidFill>
                <a:latin typeface="Calibri"/>
              </a:rPr>
              <a:t>Usado en: overview (device-ranking, top-content, users-map)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0" y="1836000"/>
            <a:ext cx="2160000" cy="288000"/>
          </a:xfrm>
          <a:prstGeom prst="roundRect">
            <a:avLst>
              <a:gd name="adj" fmla="val 50000"/>
            </a:avLst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0A1628"/>
                </a:solidFill>
                <a:latin typeface="Calibri"/>
              </a:rPr>
              <a:t>En uso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2520000"/>
            <a:ext cx="10980000" cy="72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0000" y="2520000"/>
            <a:ext cx="72000" cy="720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2628000"/>
            <a:ext cx="306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4CAF82"/>
                </a:solidFill>
                <a:latin typeface="Consolas"/>
              </a:rPr>
              <a:t>$switch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0" y="2592000"/>
            <a:ext cx="45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Clasifica cada usuario por nº de eventos en una sola pasada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2880000"/>
            <a:ext cx="45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A0C0"/>
                </a:solidFill>
                <a:latin typeface="Calibri"/>
              </a:rPr>
              <a:t>Usado en: user-profiles → Heavy / Mid / Vague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0000" y="2736000"/>
            <a:ext cx="2160000" cy="288000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0A1628"/>
                </a:solidFill>
                <a:latin typeface="Calibri"/>
              </a:rPr>
              <a:t>En uso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3420000"/>
            <a:ext cx="10980000" cy="72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000" y="3420000"/>
            <a:ext cx="72000" cy="72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3528000"/>
            <a:ext cx="306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  <a:latin typeface="Consolas"/>
              </a:rPr>
              <a:t>$hour / $dayOfWeek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0000" y="3492000"/>
            <a:ext cx="45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Extrae componentes de fecha para series temporales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0000" y="3780000"/>
            <a:ext cx="45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A0C0"/>
                </a:solidFill>
                <a:latin typeface="Calibri"/>
              </a:rPr>
              <a:t>Usado en: actividad por hora y heatmap (24h × 7 días)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3636000"/>
            <a:ext cx="2160000" cy="2880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0A1628"/>
                </a:solidFill>
                <a:latin typeface="Calibri"/>
              </a:rPr>
              <a:t>En uso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4320000"/>
            <a:ext cx="10980000" cy="72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0000" y="4320000"/>
            <a:ext cx="72000" cy="7200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4428000"/>
            <a:ext cx="306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9B59B6"/>
                </a:solidFill>
                <a:latin typeface="Consolas"/>
              </a:rPr>
              <a:t>$avg + $round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0000" y="4392000"/>
            <a:ext cx="45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Promedios redondeados directo en la 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0000" y="4680000"/>
            <a:ext cx="45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A0C0"/>
                </a:solidFill>
                <a:latin typeface="Calibri"/>
              </a:rPr>
              <a:t>Usado en: buffer por contenido, completion ranking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0000" y="4536000"/>
            <a:ext cx="2160000" cy="288000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0A1628"/>
                </a:solidFill>
                <a:latin typeface="Calibri"/>
              </a:rPr>
              <a:t>En uso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5220000"/>
            <a:ext cx="10980000" cy="72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0000" y="5220000"/>
            <a:ext cx="72000" cy="720000"/>
          </a:xfrm>
          <a:prstGeom prst="rect">
            <a:avLst/>
          </a:prstGeom>
          <a:solidFill>
            <a:srgbClr val="E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000" y="5328000"/>
            <a:ext cx="306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05050"/>
                </a:solidFill>
                <a:latin typeface="Consolas"/>
              </a:rPr>
              <a:t>$project + $match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60000" y="5292000"/>
            <a:ext cx="45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Reforma el documento y filtra después de agrupar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0000" y="5580000"/>
            <a:ext cx="45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A0C0"/>
                </a:solidFill>
                <a:latin typeface="Calibri"/>
              </a:rPr>
              <a:t>Usado en: filtrar por total_plays mínimo, proyectar campos limpios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0000" y="5436000"/>
            <a:ext cx="2160000" cy="288000"/>
          </a:xfrm>
          <a:prstGeom prst="roundRect">
            <a:avLst>
              <a:gd name="adj" fmla="val 50000"/>
            </a:avLst>
          </a:prstGeom>
          <a:solidFill>
            <a:srgbClr val="E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18000" bIns="18000"/>
          <a:lstStyle/>
          <a:p>
            <a:pPr algn="ctr"/>
            <a:r>
              <a:rPr sz="1100" b="1">
                <a:solidFill>
                  <a:srgbClr val="0A1628"/>
                </a:solidFill>
                <a:latin typeface="Calibri"/>
              </a:rPr>
              <a:t>En uso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4A9E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  <a:latin typeface="Calibri"/>
              </a:rPr>
              <a:t>Change Streams  -  los triggers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A0C0"/>
                </a:solidFill>
                <a:latin typeface="Calibri"/>
              </a:rPr>
              <a:t>Dos tareas async escuchan a MongoDB y mantienen las derivadas al día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7200000" cy="4680000"/>
          </a:xfrm>
          <a:prstGeom prst="rect">
            <a:avLst/>
          </a:prstGeom>
          <a:solidFill>
            <a:srgbClr val="050C1A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7200000" cy="251999"/>
          </a:xfrm>
          <a:prstGeom prst="rect">
            <a:avLst/>
          </a:prstGeom>
          <a:solidFill>
            <a:srgbClr val="0D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1663200"/>
            <a:ext cx="691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A9EFF"/>
                </a:solidFill>
                <a:latin typeface="Consolas"/>
              </a:rPr>
              <a:t>watch_events_and_sync_sessions()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943999"/>
            <a:ext cx="6984000" cy="4284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1">
                <a:solidFill>
                  <a:srgbClr val="8AA0C0"/>
                </a:solidFill>
                <a:latin typeface="Consolas"/>
              </a:rPr>
              <a:t># db/collections/sessions.py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async def watch_events_and_sync_sessions(db):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pipeline = [{"$match": {"operationType": "insert"}}]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async with db.events.watch(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pipeline, full_document="updateLookup"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) as stream: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async for change in stream: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doc = change["fullDocument"]</a:t>
            </a:r>
          </a:p>
          <a:p>
            <a:pPr algn="l"/>
            <a:r>
              <a:rPr sz="1100" i="1">
                <a:solidFill>
                  <a:srgbClr val="8AA0C0"/>
                </a:solidFill>
                <a:latin typeface="Consolas"/>
              </a:rPr>
              <a:t>            # trae los eventos de ese usuario+contenido,</a:t>
            </a:r>
          </a:p>
          <a:p>
            <a:pPr algn="l"/>
            <a:r>
              <a:rPr sz="1100" i="1">
                <a:solidFill>
                  <a:srgbClr val="8AA0C0"/>
                </a:solidFill>
                <a:latin typeface="Consolas"/>
              </a:rPr>
              <a:t>            # reconstruye la(s) sesión(es) y hace upsert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events = await _fetch_events(db, doc)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for s in _build_sessions(events):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    await db.sessions.update_one(</a:t>
            </a:r>
          </a:p>
          <a:p>
            <a:pPr algn="l"/>
            <a:r>
              <a:rPr sz="1100">
                <a:solidFill>
                  <a:srgbClr val="CFE3FF"/>
                </a:solidFill>
                <a:latin typeface="Consolas"/>
              </a:rPr>
              <a:t>                    _clave(s), {"$set": s}, upsert=True)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0000" y="1620000"/>
            <a:ext cx="3600000" cy="46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0000" y="1620000"/>
            <a:ext cx="54000" cy="4680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000" y="1728000"/>
            <a:ext cx="33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AF82"/>
                </a:solidFill>
                <a:latin typeface="Calibri"/>
              </a:rPr>
              <a:t>Detalles y resiliencia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000" y="2123999"/>
            <a:ext cx="3348001" cy="41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  -  Arrancan en el lifespan() de FastAPI
  -  full_document="updateLookup" trae el doc completo
  -  Pipeline filtra operationType = insert
  -  Tarea hermana: sessions → content_stats
  -  _safe_watch degrada con gracia si el cluster no soporta
  -    change streams (standalone): la API sigue viva
  -  En dev se reconstruye con scripts/test_pipeline.py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4A9E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  <a:latin typeface="Calibri"/>
              </a:rPr>
              <a:t>Dashboard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A0C0"/>
                </a:solidFill>
                <a:latin typeface="Calibri"/>
              </a:rPr>
              <a:t>5 páginas sobre un tema oscuro unificado, consumiendo solo la API 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3600000" cy="19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3600000" cy="180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908000"/>
            <a:ext cx="36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4A9EFF"/>
                </a:solidFill>
                <a:latin typeface="Calibri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2376000"/>
            <a:ext cx="3168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8EDF5"/>
                </a:solidFill>
                <a:latin typeface="Calibri"/>
              </a:rPr>
              <a:t>Plays, usuarios únicos, top contenido, mapa de burbujas, ranking de dispositivos y actividad por hora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6000" y="1620000"/>
            <a:ext cx="3600000" cy="19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6000" y="1620000"/>
            <a:ext cx="3600000" cy="18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6000" y="1908000"/>
            <a:ext cx="36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  <a:latin typeface="Calibri"/>
              </a:rPr>
              <a:t>QoE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6000"/>
            <a:ext cx="3168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8EDF5"/>
                </a:solidFill>
                <a:latin typeface="Calibri"/>
              </a:rPr>
              <a:t>Buffer por contenido, tasa de rebuffering, tiempo de inicialización y ranking de eventos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2000" y="1620000"/>
            <a:ext cx="3600000" cy="19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2000" y="1620000"/>
            <a:ext cx="3600000" cy="1800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2000" y="1908000"/>
            <a:ext cx="36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9B59B6"/>
                </a:solidFill>
                <a:latin typeface="Calibri"/>
              </a:rPr>
              <a:t>Usuarios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8000" y="2376000"/>
            <a:ext cx="3168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8EDF5"/>
                </a:solidFill>
                <a:latin typeface="Calibri"/>
              </a:rPr>
              <a:t>Perfiles Heavy/Mid/Vague, funnel de retención, heatmap y completion por contenido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3780000"/>
            <a:ext cx="3600000" cy="19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000" y="3780000"/>
            <a:ext cx="3600000" cy="180000"/>
          </a:xfrm>
          <a:prstGeom prst="rect">
            <a:avLst/>
          </a:prstGeom>
          <a:solidFill>
            <a:srgbClr val="E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4068000"/>
            <a:ext cx="36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E05050"/>
                </a:solidFill>
                <a:latin typeface="Calibri"/>
              </a:rPr>
              <a:t>Alertas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000" y="4536000"/>
            <a:ext cx="3168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8EDF5"/>
                </a:solidFill>
                <a:latin typeface="Calibri"/>
              </a:rPr>
              <a:t>Eventos críticos por buffer alto, clasificados por severidad (rojo/amarillo/azul)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6000" y="3780000"/>
            <a:ext cx="3600000" cy="1980000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56000" y="3780000"/>
            <a:ext cx="3600000" cy="180000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6000" y="4068000"/>
            <a:ext cx="36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4CAF82"/>
                </a:solidFill>
                <a:latin typeface="Calibri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36000"/>
            <a:ext cx="3168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8EDF5"/>
                </a:solidFill>
                <a:latin typeface="Calibri"/>
              </a:rPr>
              <a:t>Subida de CSVs, conteo por colección y edición/borrado de documentos en vivo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4A9E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  <a:latin typeface="Calibri"/>
              </a:rPr>
              <a:t>Números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A0C0"/>
                </a:solidFill>
                <a:latin typeface="Calibri"/>
              </a:rPr>
              <a:t>Datos reales cargados en Atlas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2700000" cy="1800000"/>
          </a:xfrm>
          <a:prstGeom prst="rect">
            <a:avLst/>
          </a:prstGeom>
          <a:solidFill>
            <a:srgbClr val="111E33"/>
          </a:solidFill>
          <a:ln w="1905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764000"/>
            <a:ext cx="270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4A9EFF"/>
                </a:solidFill>
                <a:latin typeface="Calibri"/>
              </a:rPr>
              <a:t>300k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916000"/>
            <a:ext cx="248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A0C0"/>
                </a:solidFill>
                <a:latin typeface="Calibri"/>
              </a:rPr>
              <a:t>eventos (events)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0000" y="1620000"/>
            <a:ext cx="2700000" cy="1800000"/>
          </a:xfrm>
          <a:prstGeom prst="rect">
            <a:avLst/>
          </a:prstGeom>
          <a:solidFill>
            <a:srgbClr val="111E33"/>
          </a:solidFill>
          <a:ln w="19050">
            <a:solidFill>
              <a:srgbClr val="4CA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0000" y="1764000"/>
            <a:ext cx="270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4CAF82"/>
                </a:solidFill>
                <a:latin typeface="Calibri"/>
              </a:rPr>
              <a:t>28.5k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8000" y="2916000"/>
            <a:ext cx="248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A0C0"/>
                </a:solidFill>
                <a:latin typeface="Calibri"/>
              </a:rPr>
              <a:t>sesiones (sessions)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620000"/>
            <a:ext cx="2700000" cy="1800000"/>
          </a:xfrm>
          <a:prstGeom prst="rect">
            <a:avLst/>
          </a:prstGeom>
          <a:solidFill>
            <a:srgbClr val="111E33"/>
          </a:solidFill>
          <a:ln w="1905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1764000"/>
            <a:ext cx="270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9B59B6"/>
                </a:solidFill>
                <a:latin typeface="Calibri"/>
              </a:rPr>
              <a:t>10.8k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8000" y="2916000"/>
            <a:ext cx="248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A0C0"/>
                </a:solidFill>
                <a:latin typeface="Calibri"/>
              </a:rPr>
              <a:t>contenidos (content_stats)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0000" y="1620000"/>
            <a:ext cx="2700000" cy="1800000"/>
          </a:xfrm>
          <a:prstGeom prst="rect">
            <a:avLst/>
          </a:prstGeom>
          <a:solidFill>
            <a:srgbClr val="111E33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000" y="1764000"/>
            <a:ext cx="270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E67E22"/>
                </a:solidFill>
                <a:latin typeface="Calibri"/>
              </a:rPr>
              <a:t>10.8k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8000" y="2916000"/>
            <a:ext cx="248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A0C0"/>
                </a:solidFill>
                <a:latin typeface="Calibri"/>
              </a:rPr>
              <a:t>usuarios únicos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3600000"/>
            <a:ext cx="2700000" cy="1800000"/>
          </a:xfrm>
          <a:prstGeom prst="rect">
            <a:avLst/>
          </a:prstGeom>
          <a:solidFill>
            <a:srgbClr val="111E33"/>
          </a:solidFill>
          <a:ln w="19050">
            <a:solidFill>
              <a:srgbClr val="E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0" y="3744000"/>
            <a:ext cx="270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E05050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" y="4896000"/>
            <a:ext cx="248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A0C0"/>
                </a:solidFill>
                <a:latin typeface="Calibri"/>
              </a:rPr>
              <a:t>colecciones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0000" y="3600000"/>
            <a:ext cx="2700000" cy="1800000"/>
          </a:xfrm>
          <a:prstGeom prst="rect">
            <a:avLst/>
          </a:prstGeom>
          <a:solidFill>
            <a:srgbClr val="111E33"/>
          </a:solidFill>
          <a:ln w="19050">
            <a:solidFill>
              <a:srgbClr val="D4AC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0000" y="3744000"/>
            <a:ext cx="270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D4AC0D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8000" y="4896000"/>
            <a:ext cx="248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A0C0"/>
                </a:solidFill>
                <a:latin typeface="Calibri"/>
              </a:rPr>
              <a:t>páginas del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0000" y="3600000"/>
            <a:ext cx="2700000" cy="1800000"/>
          </a:xfrm>
          <a:prstGeom prst="rect">
            <a:avLst/>
          </a:prstGeom>
          <a:solidFill>
            <a:srgbClr val="111E33"/>
          </a:solidFill>
          <a:ln w="1905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000" y="3744000"/>
            <a:ext cx="270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4A9EFF"/>
                </a:solidFill>
                <a:latin typeface="Calibri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8000" y="4896000"/>
            <a:ext cx="248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A0C0"/>
                </a:solidFill>
                <a:latin typeface="Calibri"/>
              </a:rPr>
              <a:t>endpoints REST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0000" y="3600000"/>
            <a:ext cx="2700000" cy="1800000"/>
          </a:xfrm>
          <a:prstGeom prst="rect">
            <a:avLst/>
          </a:prstGeom>
          <a:solidFill>
            <a:srgbClr val="111E33"/>
          </a:solidFill>
          <a:ln w="19050">
            <a:solidFill>
              <a:srgbClr val="4CA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000" y="3744000"/>
            <a:ext cx="270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 i="0">
                <a:solidFill>
                  <a:srgbClr val="4CAF82"/>
                </a:solidFill>
                <a:latin typeface="Calibri"/>
              </a:rPr>
              <a:t>104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8000" y="4896000"/>
            <a:ext cx="248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A0C0"/>
                </a:solidFill>
                <a:latin typeface="Calibri"/>
              </a:rPr>
              <a:t>tests (81 back + 23 front)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360000"/>
            <a:ext cx="108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1">
                <a:solidFill>
                  <a:srgbClr val="4A9E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96000"/>
            <a:ext cx="1039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EDF5"/>
                </a:solidFill>
                <a:latin typeface="Calibri"/>
              </a:rPr>
              <a:t>Legal disclaimer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1080000"/>
            <a:ext cx="11328119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AA0C0"/>
                </a:solidFill>
                <a:latin typeface="Calibri"/>
              </a:rPr>
              <a:t>Naturaleza académica del proyecto, datos y marcas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5580000" cy="2015999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54000" cy="2015999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728000"/>
            <a:ext cx="53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  <a:latin typeface="Calibri"/>
              </a:rPr>
              <a:t>Propósito académico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123999"/>
            <a:ext cx="5328001" cy="147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  -  Proyecto desarrollado con fines exclusivamente educativos
  -    y de demostración para el curso de Ingeniería de Datos.
  -  No constituye un producto, servicio ni sistema en producción.
  -  Sin ánimo de lucro ni explotación comercial de los datos.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620000"/>
            <a:ext cx="5400000" cy="2015999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" cy="2015999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0" y="1728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  <a:latin typeface="Calibri"/>
              </a:rPr>
              <a:t>Marcas y afiliación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2123999"/>
            <a:ext cx="5148001" cy="147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  -  "Win Sports" y los nombres de eventos, ligas y contenidos
  -    son marcas de sus respectivos titulares.
  -  Este trabajo NO está afiliado, patrocinado ni avalado por
  -    Win Sports ni por ninguna de las entidades mencionadas.
  -  Su uso es meramente ilustrativo dentro del ejercicio.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3816000"/>
            <a:ext cx="5580000" cy="2015999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3816000"/>
            <a:ext cx="54000" cy="2015999"/>
          </a:xfrm>
          <a:prstGeom prst="rect">
            <a:avLst/>
          </a:prstGeom>
          <a:solidFill>
            <a:srgbClr val="4CA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3924000"/>
            <a:ext cx="532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CAF82"/>
                </a:solidFill>
                <a:latin typeface="Calibri"/>
              </a:rPr>
              <a:t>Datos y privacidad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4319999"/>
            <a:ext cx="5328001" cy="147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  -  El dataset se emplea solo para el análisis técnico mostrado.
  -  Los identificadores de usuario no se exponen completos:
  -    el mapa publica solo un prefijo del subscriber_id.
  -  Las ubicaciones son aproximadas (centroide del país + jitter),
  -    no representan la posición real de ninguna persona.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000" y="3816000"/>
            <a:ext cx="5400000" cy="2015999"/>
          </a:xfrm>
          <a:prstGeom prst="rect">
            <a:avLst/>
          </a:prstGeom>
          <a:solidFill>
            <a:srgbClr val="111E33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0000" y="3816000"/>
            <a:ext cx="54000" cy="2015999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0000" y="3924000"/>
            <a:ext cx="5148001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4AC0D"/>
                </a:solidFill>
                <a:latin typeface="Calibri"/>
              </a:rPr>
              <a:t>Limitación de responsabilidad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0" y="4319999"/>
            <a:ext cx="5148001" cy="147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  <a:latin typeface="Calibri"/>
              </a:rPr>
              <a:t>  -  Las métricas son resultado de un ejercicio y pueden contener
  -    aproximaciones (p. ej. completion_pct capado a 100%).
  -  No deben usarse para decisiones de negocio reales.
  -  El software se presenta 'tal cual', sin garantías de ningún tipo.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4119" y="0"/>
            <a:ext cx="108000" cy="68580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6000"/>
            <a:ext cx="12192119" cy="28800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08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E8EDF5"/>
                </a:solidFill>
                <a:latin typeface="Calibri"/>
              </a:rPr>
              <a:t>WinSports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008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4A9EFF"/>
                </a:solidFill>
                <a:latin typeface="Calibri"/>
              </a:rPr>
              <a:t>"Que MongoDB haga el trabajo pesado: agregar dentro de la base, no fuera."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420000"/>
            <a:ext cx="1008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8EDF5"/>
                </a:solidFill>
                <a:latin typeface="Calibri"/>
              </a:rPr>
              <a:t>-  Un log plano de eventos se convierte en sesiones y métricas por contenido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3762000"/>
            <a:ext cx="1008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8EDF5"/>
                </a:solidFill>
                <a:latin typeface="Calibri"/>
              </a:rPr>
              <a:t>-  Los pipelines de agregación reemplazan decenas de líneas de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4104000"/>
            <a:ext cx="1008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8EDF5"/>
                </a:solidFill>
                <a:latin typeface="Calibri"/>
              </a:rPr>
              <a:t>-  Change Streams mantienen las derivadas sincronizadas sin polling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4446000"/>
            <a:ext cx="1008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8EDF5"/>
                </a:solidFill>
                <a:latin typeface="Calibri"/>
              </a:rPr>
              <a:t>-  Arquitectura modular: la API pasa por repositorios, el front solo consume 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5598000"/>
            <a:ext cx="1008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4A9EFF"/>
                </a:solidFill>
                <a:latin typeface="Calibri"/>
              </a:rPr>
              <a:t>Gracias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0C0"/>
                </a:solidFill>
                <a:latin typeface="Calibri"/>
              </a:rPr>
              <a:t>WinSports  -  Analítica de streaming deportivo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32119" y="6534000"/>
            <a:ext cx="97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A0C0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